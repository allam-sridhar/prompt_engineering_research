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Inter" panose="020B0604020202020204" charset="0"/>
      <p:regular r:id="rId26"/>
      <p:bold r:id="rId27"/>
      <p:italic r:id="rId28"/>
      <p:boldItalic r:id="rId29"/>
    </p:embeddedFont>
    <p:embeddedFont>
      <p:font typeface="Inter Light" panose="020B0604020202020204" charset="0"/>
      <p:regular r:id="rId30"/>
      <p:bold r:id="rId31"/>
      <p:italic r:id="rId32"/>
      <p:boldItalic r:id="rId33"/>
    </p:embeddedFont>
    <p:embeddedFont>
      <p:font typeface="Inter SemiBold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C94165-5C5E-4B74-BAD7-36569CF90316}">
  <a:tblStyle styleId="{7DC94165-5C5E-4B74-BAD7-36569CF903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7108994-FB14-4D34-BB94-6023D4598E4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a47f8bc7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a47f8bc7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a47f8bc704_0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a47f8bc704_0_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a47f8bc704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a47f8bc704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23edc346a2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23edc346a2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a47f8bc704_0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a47f8bc704_0_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23edc346a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23edc346a2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3edc346a2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3edc346a2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a47f8bc704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a47f8bc704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23edc346a2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23edc346a2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a47f8bc704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a47f8bc704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a47f8bc704_0_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a47f8bc704_0_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a47f8bc704_0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a47f8bc704_0_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23edc346a2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23edc346a2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a47f8bc704_0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a47f8bc704_0_5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23edc346a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23edc346a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23edc346a2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23edc346a2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a47f8bc704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a47f8bc704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23edc346a2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23edc346a2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23edc346a2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23edc346a2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23edc346a2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23edc346a2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23edc346a2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23edc346a2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a47f8bc704_0_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2a47f8bc704_0_5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23edc346a2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23edc346a2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 idx="2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 b="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12" name="Google Shape;12;p2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Google Shape;13;p2"/>
          <p:cNvSpPr>
            <a:spLocks noGrp="1"/>
          </p:cNvSpPr>
          <p:nvPr>
            <p:ph type="pic" idx="3"/>
          </p:nvPr>
        </p:nvSpPr>
        <p:spPr>
          <a:xfrm>
            <a:off x="5039775" y="196800"/>
            <a:ext cx="3905400" cy="4749900"/>
          </a:xfrm>
          <a:prstGeom prst="roundRect">
            <a:avLst>
              <a:gd name="adj" fmla="val 2053"/>
            </a:avLst>
          </a:prstGeom>
          <a:noFill/>
          <a:ln>
            <a:noFill/>
          </a:ln>
        </p:spPr>
      </p:sp>
      <p:sp>
        <p:nvSpPr>
          <p:cNvPr id="14" name="Google Shape;14;p2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5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Divider Slide">
  <p:cSld name="CUSTOM_3">
    <p:bg>
      <p:bgPr>
        <a:solidFill>
          <a:schemeClr val="dk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 b="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cxnSp>
        <p:nvCxnSpPr>
          <p:cNvPr id="22" name="Google Shape;22;p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3"/>
          <p:cNvSpPr>
            <a:spLocks noGrp="1"/>
          </p:cNvSpPr>
          <p:nvPr>
            <p:ph type="pic" idx="3"/>
          </p:nvPr>
        </p:nvSpPr>
        <p:spPr>
          <a:xfrm>
            <a:off x="5039775" y="196800"/>
            <a:ext cx="3905400" cy="4749900"/>
          </a:xfrm>
          <a:prstGeom prst="roundRect">
            <a:avLst>
              <a:gd name="adj" fmla="val 2053"/>
            </a:avLst>
          </a:prstGeom>
          <a:noFill/>
          <a:ln>
            <a:noFill/>
          </a:ln>
        </p:spPr>
      </p:sp>
      <p:sp>
        <p:nvSpPr>
          <p:cNvPr id="24" name="Google Shape;24;p3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sion / Mission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>
            <a:spLocks noGrp="1"/>
          </p:cNvSpPr>
          <p:nvPr>
            <p:ph type="pic" idx="2"/>
          </p:nvPr>
        </p:nvSpPr>
        <p:spPr>
          <a:xfrm>
            <a:off x="5039775" y="203250"/>
            <a:ext cx="3905400" cy="2298600"/>
          </a:xfrm>
          <a:prstGeom prst="roundRect">
            <a:avLst>
              <a:gd name="adj" fmla="val 2053"/>
            </a:avLst>
          </a:prstGeom>
          <a:noFill/>
          <a:ln>
            <a:noFill/>
          </a:ln>
        </p:spPr>
      </p:sp>
      <p:cxnSp>
        <p:nvCxnSpPr>
          <p:cNvPr id="29" name="Google Shape;29;p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452575" y="1853525"/>
            <a:ext cx="2965500" cy="24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>
            <a:spLocks noGrp="1"/>
          </p:cNvSpPr>
          <p:nvPr>
            <p:ph type="pic" idx="3"/>
          </p:nvPr>
        </p:nvSpPr>
        <p:spPr>
          <a:xfrm>
            <a:off x="5039775" y="2624675"/>
            <a:ext cx="3905400" cy="2298600"/>
          </a:xfrm>
          <a:prstGeom prst="roundRect">
            <a:avLst>
              <a:gd name="adj" fmla="val 2053"/>
            </a:avLst>
          </a:prstGeom>
          <a:noFill/>
          <a:ln>
            <a:noFill/>
          </a:ln>
        </p:spPr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452575" y="596800"/>
            <a:ext cx="4263600" cy="13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9pPr>
          </a:lstStyle>
          <a:p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/ Divider" type="tx">
  <p:cSld name="TITLE_AND_BODY">
    <p:bg>
      <p:bgPr>
        <a:solidFill>
          <a:schemeClr val="dk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420875" y="1552350"/>
            <a:ext cx="6231300" cy="16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title" idx="2"/>
          </p:nvPr>
        </p:nvSpPr>
        <p:spPr>
          <a:xfrm>
            <a:off x="472350" y="3144800"/>
            <a:ext cx="29655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 b="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5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nue Model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5" name="Google Shape;45;p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560525" y="3718900"/>
            <a:ext cx="35526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4113125" y="3718900"/>
            <a:ext cx="35526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3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Timeline" type="titleOnly">
  <p:cSld name="TITLE_ONLY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4" name="Google Shape;54;p7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452575" y="596800"/>
            <a:ext cx="6868800" cy="13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589475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2"/>
          </p:nvPr>
        </p:nvSpPr>
        <p:spPr>
          <a:xfrm>
            <a:off x="2601850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body" idx="3"/>
          </p:nvPr>
        </p:nvSpPr>
        <p:spPr>
          <a:xfrm>
            <a:off x="4601450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4"/>
          </p:nvPr>
        </p:nvSpPr>
        <p:spPr>
          <a:xfrm>
            <a:off x="6602800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5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etitive Advantage">
  <p:cSld name="ONE_COLUMN_TEXT"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5" name="Google Shape;65;p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452575" y="596800"/>
            <a:ext cx="4418100" cy="29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9pPr>
          </a:lstStyle>
          <a:p>
            <a:endParaRPr/>
          </a:p>
        </p:txBody>
      </p:sp>
      <p:sp>
        <p:nvSpPr>
          <p:cNvPr id="67" name="Google Shape;67;p8"/>
          <p:cNvSpPr>
            <a:spLocks noGrp="1"/>
          </p:cNvSpPr>
          <p:nvPr>
            <p:ph type="pic" idx="2"/>
          </p:nvPr>
        </p:nvSpPr>
        <p:spPr>
          <a:xfrm>
            <a:off x="5039775" y="196800"/>
            <a:ext cx="3905400" cy="4749900"/>
          </a:xfrm>
          <a:prstGeom prst="roundRect">
            <a:avLst>
              <a:gd name="adj" fmla="val 2053"/>
            </a:avLst>
          </a:prstGeom>
          <a:noFill/>
          <a:ln>
            <a:noFill/>
          </a:ln>
        </p:spPr>
      </p:sp>
      <p:sp>
        <p:nvSpPr>
          <p:cNvPr id="68" name="Google Shape;68;p8"/>
          <p:cNvSpPr txBox="1">
            <a:spLocks noGrp="1"/>
          </p:cNvSpPr>
          <p:nvPr>
            <p:ph type="body" idx="1"/>
          </p:nvPr>
        </p:nvSpPr>
        <p:spPr>
          <a:xfrm>
            <a:off x="452575" y="1966775"/>
            <a:ext cx="3212700" cy="20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8"/>
          <p:cNvSpPr txBox="1">
            <a:spLocks noGrp="1"/>
          </p:cNvSpPr>
          <p:nvPr>
            <p:ph type="sldNum" idx="3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">
  <p:cSld name="MAIN_POINT">
    <p:bg>
      <p:bgPr>
        <a:solidFill>
          <a:schemeClr val="dk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>
            <a:spLocks noGrp="1"/>
          </p:cNvSpPr>
          <p:nvPr>
            <p:ph type="pic" idx="2"/>
          </p:nvPr>
        </p:nvSpPr>
        <p:spPr>
          <a:xfrm>
            <a:off x="566350" y="1569300"/>
            <a:ext cx="1466400" cy="1570200"/>
          </a:xfrm>
          <a:prstGeom prst="roundRect">
            <a:avLst>
              <a:gd name="adj" fmla="val 6320"/>
            </a:avLst>
          </a:prstGeom>
          <a:noFill/>
          <a:ln>
            <a:noFill/>
          </a:ln>
        </p:spPr>
      </p:sp>
      <p:sp>
        <p:nvSpPr>
          <p:cNvPr id="74" name="Google Shape;74;p9"/>
          <p:cNvSpPr>
            <a:spLocks noGrp="1"/>
          </p:cNvSpPr>
          <p:nvPr>
            <p:ph type="pic" idx="3"/>
          </p:nvPr>
        </p:nvSpPr>
        <p:spPr>
          <a:xfrm>
            <a:off x="2588275" y="1569300"/>
            <a:ext cx="1466400" cy="1570200"/>
          </a:xfrm>
          <a:prstGeom prst="roundRect">
            <a:avLst>
              <a:gd name="adj" fmla="val 6320"/>
            </a:avLst>
          </a:prstGeom>
          <a:noFill/>
          <a:ln>
            <a:noFill/>
          </a:ln>
        </p:spPr>
      </p:sp>
      <p:sp>
        <p:nvSpPr>
          <p:cNvPr id="75" name="Google Shape;75;p9"/>
          <p:cNvSpPr>
            <a:spLocks noGrp="1"/>
          </p:cNvSpPr>
          <p:nvPr>
            <p:ph type="pic" idx="4"/>
          </p:nvPr>
        </p:nvSpPr>
        <p:spPr>
          <a:xfrm>
            <a:off x="4613113" y="1569300"/>
            <a:ext cx="1466400" cy="1570200"/>
          </a:xfrm>
          <a:prstGeom prst="roundRect">
            <a:avLst>
              <a:gd name="adj" fmla="val 6320"/>
            </a:avLst>
          </a:prstGeom>
          <a:noFill/>
          <a:ln>
            <a:noFill/>
          </a:ln>
        </p:spPr>
      </p:sp>
      <p:sp>
        <p:nvSpPr>
          <p:cNvPr id="76" name="Google Shape;76;p9"/>
          <p:cNvSpPr>
            <a:spLocks noGrp="1"/>
          </p:cNvSpPr>
          <p:nvPr>
            <p:ph type="pic" idx="5"/>
          </p:nvPr>
        </p:nvSpPr>
        <p:spPr>
          <a:xfrm>
            <a:off x="6637950" y="1569300"/>
            <a:ext cx="1466400" cy="1570200"/>
          </a:xfrm>
          <a:prstGeom prst="roundRect">
            <a:avLst>
              <a:gd name="adj" fmla="val 6320"/>
            </a:avLst>
          </a:prstGeom>
          <a:noFill/>
          <a:ln>
            <a:noFill/>
          </a:ln>
        </p:spPr>
      </p:sp>
      <p:cxnSp>
        <p:nvCxnSpPr>
          <p:cNvPr id="77" name="Google Shape;77;p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450850" y="596800"/>
            <a:ext cx="67677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566350" y="3190975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ubTitle" idx="6"/>
          </p:nvPr>
        </p:nvSpPr>
        <p:spPr>
          <a:xfrm>
            <a:off x="2588275" y="3190975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7"/>
          </p:nvPr>
        </p:nvSpPr>
        <p:spPr>
          <a:xfrm>
            <a:off x="4613113" y="3190975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8"/>
          </p:nvPr>
        </p:nvSpPr>
        <p:spPr>
          <a:xfrm>
            <a:off x="6637950" y="3190975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9"/>
          <p:cNvSpPr txBox="1">
            <a:spLocks noGrp="1"/>
          </p:cNvSpPr>
          <p:nvPr>
            <p:ph type="sldNum" idx="12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9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rrent Market / Market Size">
  <p:cSld name="SECTION_TITLE_AND_DESCRIPTION">
    <p:bg>
      <p:bgPr>
        <a:solidFill>
          <a:schemeClr val="dk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88" name="Google Shape;88;p10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" name="Google Shape;89;p10"/>
          <p:cNvSpPr txBox="1">
            <a:spLocks noGrp="1"/>
          </p:cNvSpPr>
          <p:nvPr>
            <p:ph type="subTitle" idx="1"/>
          </p:nvPr>
        </p:nvSpPr>
        <p:spPr>
          <a:xfrm>
            <a:off x="675475" y="3055900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body" idx="2"/>
          </p:nvPr>
        </p:nvSpPr>
        <p:spPr>
          <a:xfrm>
            <a:off x="604925" y="3668125"/>
            <a:ext cx="1607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subTitle" idx="3"/>
          </p:nvPr>
        </p:nvSpPr>
        <p:spPr>
          <a:xfrm>
            <a:off x="3885400" y="3055900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body" idx="4"/>
          </p:nvPr>
        </p:nvSpPr>
        <p:spPr>
          <a:xfrm>
            <a:off x="3814850" y="3668125"/>
            <a:ext cx="1607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subTitle" idx="5"/>
          </p:nvPr>
        </p:nvSpPr>
        <p:spPr>
          <a:xfrm>
            <a:off x="7024719" y="3055900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body" idx="6"/>
          </p:nvPr>
        </p:nvSpPr>
        <p:spPr>
          <a:xfrm>
            <a:off x="6954219" y="3668125"/>
            <a:ext cx="1607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0"/>
          <p:cNvSpPr txBox="1">
            <a:spLocks noGrp="1"/>
          </p:cNvSpPr>
          <p:nvPr>
            <p:ph type="title"/>
          </p:nvPr>
        </p:nvSpPr>
        <p:spPr>
          <a:xfrm>
            <a:off x="450850" y="596800"/>
            <a:ext cx="6767700" cy="12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ncial Breakdown">
  <p:cSld name="SECTION_TITLE_AND_DESCRIPTION_1">
    <p:bg>
      <p:bgPr>
        <a:solidFill>
          <a:schemeClr val="dk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01" name="Google Shape;101;p11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1"/>
          <p:cNvSpPr txBox="1">
            <a:spLocks noGrp="1"/>
          </p:cNvSpPr>
          <p:nvPr>
            <p:ph type="subTitle" idx="1"/>
          </p:nvPr>
        </p:nvSpPr>
        <p:spPr>
          <a:xfrm>
            <a:off x="3486575" y="2706950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body" idx="2"/>
          </p:nvPr>
        </p:nvSpPr>
        <p:spPr>
          <a:xfrm>
            <a:off x="3416075" y="2982325"/>
            <a:ext cx="1607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104" name="Google Shape;104;p11"/>
          <p:cNvCxnSpPr>
            <a:endCxn id="105" idx="2"/>
          </p:cNvCxnSpPr>
          <p:nvPr/>
        </p:nvCxnSpPr>
        <p:spPr>
          <a:xfrm>
            <a:off x="2904275" y="2048466"/>
            <a:ext cx="7719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106;p11"/>
          <p:cNvCxnSpPr/>
          <p:nvPr/>
        </p:nvCxnSpPr>
        <p:spPr>
          <a:xfrm>
            <a:off x="4765924" y="2048466"/>
            <a:ext cx="7719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107;p11"/>
          <p:cNvCxnSpPr/>
          <p:nvPr/>
        </p:nvCxnSpPr>
        <p:spPr>
          <a:xfrm>
            <a:off x="6635736" y="2048466"/>
            <a:ext cx="7719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" name="Google Shape;105;p11"/>
          <p:cNvSpPr/>
          <p:nvPr/>
        </p:nvSpPr>
        <p:spPr>
          <a:xfrm>
            <a:off x="3676175" y="1504866"/>
            <a:ext cx="1087200" cy="1087200"/>
          </a:xfrm>
          <a:prstGeom prst="flowChartConnector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5548513" y="1504866"/>
            <a:ext cx="1087200" cy="1087200"/>
          </a:xfrm>
          <a:prstGeom prst="flowChartConnector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7417725" y="1504866"/>
            <a:ext cx="1087200" cy="1087200"/>
          </a:xfrm>
          <a:prstGeom prst="flowChartConnector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1"/>
          <p:cNvSpPr txBox="1">
            <a:spLocks noGrp="1"/>
          </p:cNvSpPr>
          <p:nvPr>
            <p:ph type="subTitle" idx="3"/>
          </p:nvPr>
        </p:nvSpPr>
        <p:spPr>
          <a:xfrm>
            <a:off x="5358925" y="2706950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body" idx="4"/>
          </p:nvPr>
        </p:nvSpPr>
        <p:spPr>
          <a:xfrm>
            <a:off x="5288425" y="2982325"/>
            <a:ext cx="1607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subTitle" idx="5"/>
          </p:nvPr>
        </p:nvSpPr>
        <p:spPr>
          <a:xfrm>
            <a:off x="7231275" y="2706950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1"/>
          <p:cNvSpPr txBox="1">
            <a:spLocks noGrp="1"/>
          </p:cNvSpPr>
          <p:nvPr>
            <p:ph type="body" idx="6"/>
          </p:nvPr>
        </p:nvSpPr>
        <p:spPr>
          <a:xfrm>
            <a:off x="7160775" y="2982325"/>
            <a:ext cx="1607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1"/>
          <p:cNvSpPr/>
          <p:nvPr/>
        </p:nvSpPr>
        <p:spPr>
          <a:xfrm>
            <a:off x="603475" y="2706950"/>
            <a:ext cx="2313300" cy="1413600"/>
          </a:xfrm>
          <a:prstGeom prst="roundRect">
            <a:avLst>
              <a:gd name="adj" fmla="val 7414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rgbClr val="F6F5EC"/>
              </a:solidFill>
            </a:endParaRPr>
          </a:p>
        </p:txBody>
      </p:sp>
      <p:sp>
        <p:nvSpPr>
          <p:cNvPr id="115" name="Google Shape;115;p11"/>
          <p:cNvSpPr txBox="1">
            <a:spLocks noGrp="1"/>
          </p:cNvSpPr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11"/>
          <p:cNvSpPr txBox="1">
            <a:spLocks noGrp="1"/>
          </p:cNvSpPr>
          <p:nvPr>
            <p:ph type="body" idx="7"/>
          </p:nvPr>
        </p:nvSpPr>
        <p:spPr>
          <a:xfrm>
            <a:off x="603475" y="2758400"/>
            <a:ext cx="2313300" cy="13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/ Graph">
  <p:cSld name="CAPTION_ONLY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12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" name="Google Shape;122;p12"/>
          <p:cNvSpPr txBox="1">
            <a:spLocks noGrp="1"/>
          </p:cNvSpPr>
          <p:nvPr>
            <p:ph type="title"/>
          </p:nvPr>
        </p:nvSpPr>
        <p:spPr>
          <a:xfrm>
            <a:off x="452575" y="596800"/>
            <a:ext cx="4418100" cy="13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9pPr>
          </a:lstStyle>
          <a:p>
            <a:endParaRPr/>
          </a:p>
        </p:txBody>
      </p:sp>
      <p:sp>
        <p:nvSpPr>
          <p:cNvPr id="123" name="Google Shape;123;p12"/>
          <p:cNvSpPr txBox="1">
            <a:spLocks noGrp="1"/>
          </p:cNvSpPr>
          <p:nvPr>
            <p:ph type="body" idx="1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12"/>
          <p:cNvSpPr txBox="1">
            <a:spLocks noGrp="1"/>
          </p:cNvSpPr>
          <p:nvPr>
            <p:ph type="sldNum" idx="12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2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Header">
  <p:cSld name="BIG_NUMBER">
    <p:bg>
      <p:bgPr>
        <a:solidFill>
          <a:schemeClr val="dk2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>
            <a:spLocks noGrp="1"/>
          </p:cNvSpPr>
          <p:nvPr>
            <p:ph type="pic" idx="2"/>
          </p:nvPr>
        </p:nvSpPr>
        <p:spPr>
          <a:xfrm>
            <a:off x="213750" y="586950"/>
            <a:ext cx="8701800" cy="2327100"/>
          </a:xfrm>
          <a:prstGeom prst="roundRect">
            <a:avLst>
              <a:gd name="adj" fmla="val 3913"/>
            </a:avLst>
          </a:prstGeom>
          <a:noFill/>
          <a:ln>
            <a:noFill/>
          </a:ln>
        </p:spPr>
      </p:sp>
      <p:sp>
        <p:nvSpPr>
          <p:cNvPr id="129" name="Google Shape;129;p13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30" name="Google Shape;130;p1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" name="Google Shape;131;p13"/>
          <p:cNvSpPr txBox="1">
            <a:spLocks noGrp="1"/>
          </p:cNvSpPr>
          <p:nvPr>
            <p:ph type="body" idx="1"/>
          </p:nvPr>
        </p:nvSpPr>
        <p:spPr>
          <a:xfrm>
            <a:off x="5362800" y="3071200"/>
            <a:ext cx="35526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-to-Market Strategy" type="blank">
  <p:cSld name="BLANK">
    <p:bg>
      <p:bgPr>
        <a:solidFill>
          <a:schemeClr val="dk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>
            <a:spLocks noGrp="1"/>
          </p:cNvSpPr>
          <p:nvPr>
            <p:ph type="pic" idx="2"/>
          </p:nvPr>
        </p:nvSpPr>
        <p:spPr>
          <a:xfrm>
            <a:off x="6445900" y="626975"/>
            <a:ext cx="1932900" cy="2070000"/>
          </a:xfrm>
          <a:prstGeom prst="roundRect">
            <a:avLst>
              <a:gd name="adj" fmla="val 5387"/>
            </a:avLst>
          </a:prstGeom>
          <a:noFill/>
          <a:ln>
            <a:noFill/>
          </a:ln>
        </p:spPr>
      </p:sp>
      <p:sp>
        <p:nvSpPr>
          <p:cNvPr id="137" name="Google Shape;137;p14"/>
          <p:cNvSpPr>
            <a:spLocks noGrp="1"/>
          </p:cNvSpPr>
          <p:nvPr>
            <p:ph type="pic" idx="3"/>
          </p:nvPr>
        </p:nvSpPr>
        <p:spPr>
          <a:xfrm>
            <a:off x="4210025" y="626975"/>
            <a:ext cx="1932900" cy="2070000"/>
          </a:xfrm>
          <a:prstGeom prst="roundRect">
            <a:avLst>
              <a:gd name="adj" fmla="val 5387"/>
            </a:avLst>
          </a:prstGeom>
          <a:noFill/>
          <a:ln>
            <a:noFill/>
          </a:ln>
        </p:spPr>
      </p:sp>
      <p:cxnSp>
        <p:nvCxnSpPr>
          <p:cNvPr id="138" name="Google Shape;138;p1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450850" y="596800"/>
            <a:ext cx="40830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subTitle" idx="1"/>
          </p:nvPr>
        </p:nvSpPr>
        <p:spPr>
          <a:xfrm>
            <a:off x="4210025" y="2802675"/>
            <a:ext cx="19068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4"/>
          </p:nvPr>
        </p:nvSpPr>
        <p:spPr>
          <a:xfrm>
            <a:off x="4210025" y="3441550"/>
            <a:ext cx="1607400" cy="10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subTitle" idx="5"/>
          </p:nvPr>
        </p:nvSpPr>
        <p:spPr>
          <a:xfrm>
            <a:off x="6458950" y="2802675"/>
            <a:ext cx="19068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body" idx="6"/>
          </p:nvPr>
        </p:nvSpPr>
        <p:spPr>
          <a:xfrm>
            <a:off x="6458950" y="3441550"/>
            <a:ext cx="1607400" cy="10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14"/>
          <p:cNvSpPr txBox="1">
            <a:spLocks noGrp="1"/>
          </p:cNvSpPr>
          <p:nvPr>
            <p:ph type="body" idx="7"/>
          </p:nvPr>
        </p:nvSpPr>
        <p:spPr>
          <a:xfrm>
            <a:off x="450850" y="2399275"/>
            <a:ext cx="3048000" cy="21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14"/>
          <p:cNvSpPr txBox="1">
            <a:spLocks noGrp="1"/>
          </p:cNvSpPr>
          <p:nvPr>
            <p:ph type="sldNum" idx="12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TITLE_1">
    <p:bg>
      <p:bgPr>
        <a:solidFill>
          <a:schemeClr val="l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1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" name="Google Shape;150;p15"/>
          <p:cNvSpPr txBox="1">
            <a:spLocks noGrp="1"/>
          </p:cNvSpPr>
          <p:nvPr>
            <p:ph type="title"/>
          </p:nvPr>
        </p:nvSpPr>
        <p:spPr>
          <a:xfrm>
            <a:off x="452575" y="596800"/>
            <a:ext cx="4418100" cy="13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9pPr>
          </a:lstStyle>
          <a:p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subTitle" idx="1"/>
          </p:nvPr>
        </p:nvSpPr>
        <p:spPr>
          <a:xfrm>
            <a:off x="467825" y="1857300"/>
            <a:ext cx="21510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body" idx="2"/>
          </p:nvPr>
        </p:nvSpPr>
        <p:spPr>
          <a:xfrm>
            <a:off x="391625" y="2271825"/>
            <a:ext cx="21510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53" name="Google Shape;153;p15"/>
          <p:cNvSpPr txBox="1">
            <a:spLocks noGrp="1"/>
          </p:cNvSpPr>
          <p:nvPr>
            <p:ph type="subTitle" idx="3"/>
          </p:nvPr>
        </p:nvSpPr>
        <p:spPr>
          <a:xfrm>
            <a:off x="3052450" y="1857300"/>
            <a:ext cx="21510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4"/>
          </p:nvPr>
        </p:nvSpPr>
        <p:spPr>
          <a:xfrm>
            <a:off x="2976250" y="2271825"/>
            <a:ext cx="21510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subTitle" idx="5"/>
          </p:nvPr>
        </p:nvSpPr>
        <p:spPr>
          <a:xfrm>
            <a:off x="5637075" y="1857300"/>
            <a:ext cx="21510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body" idx="6"/>
          </p:nvPr>
        </p:nvSpPr>
        <p:spPr>
          <a:xfrm>
            <a:off x="5560875" y="2271825"/>
            <a:ext cx="21510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subTitle" idx="7"/>
          </p:nvPr>
        </p:nvSpPr>
        <p:spPr>
          <a:xfrm>
            <a:off x="467825" y="3075100"/>
            <a:ext cx="21510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58" name="Google Shape;158;p15"/>
          <p:cNvSpPr txBox="1">
            <a:spLocks noGrp="1"/>
          </p:cNvSpPr>
          <p:nvPr>
            <p:ph type="body" idx="8"/>
          </p:nvPr>
        </p:nvSpPr>
        <p:spPr>
          <a:xfrm>
            <a:off x="391625" y="3489625"/>
            <a:ext cx="21510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subTitle" idx="9"/>
          </p:nvPr>
        </p:nvSpPr>
        <p:spPr>
          <a:xfrm>
            <a:off x="3052450" y="3075100"/>
            <a:ext cx="21510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13"/>
          </p:nvPr>
        </p:nvSpPr>
        <p:spPr>
          <a:xfrm>
            <a:off x="2976250" y="3489625"/>
            <a:ext cx="21510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subTitle" idx="14"/>
          </p:nvPr>
        </p:nvSpPr>
        <p:spPr>
          <a:xfrm>
            <a:off x="5637075" y="3075100"/>
            <a:ext cx="21510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15"/>
          </p:nvPr>
        </p:nvSpPr>
        <p:spPr>
          <a:xfrm>
            <a:off x="5560875" y="3489625"/>
            <a:ext cx="21510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15"/>
          <p:cNvSpPr txBox="1">
            <a:spLocks noGrp="1"/>
          </p:cNvSpPr>
          <p:nvPr>
            <p:ph type="sldNum" idx="12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atures / Benefits">
  <p:cSld name="CUSTOM"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8" name="Google Shape;168;p1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16"/>
          <p:cNvSpPr txBox="1">
            <a:spLocks noGrp="1"/>
          </p:cNvSpPr>
          <p:nvPr>
            <p:ph type="title"/>
          </p:nvPr>
        </p:nvSpPr>
        <p:spPr>
          <a:xfrm>
            <a:off x="452575" y="633600"/>
            <a:ext cx="3954600" cy="13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9pPr>
          </a:lstStyle>
          <a:p>
            <a:endParaRPr/>
          </a:p>
        </p:txBody>
      </p:sp>
      <p:sp>
        <p:nvSpPr>
          <p:cNvPr id="170" name="Google Shape;170;p16"/>
          <p:cNvSpPr txBox="1">
            <a:spLocks noGrp="1"/>
          </p:cNvSpPr>
          <p:nvPr>
            <p:ph type="body" idx="1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sldNum" idx="2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Images">
  <p:cSld name="CUSTOM_1">
    <p:bg>
      <p:bgPr>
        <a:solidFill>
          <a:schemeClr val="dk2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>
            <a:spLocks noGrp="1"/>
          </p:cNvSpPr>
          <p:nvPr>
            <p:ph type="pic" idx="2"/>
          </p:nvPr>
        </p:nvSpPr>
        <p:spPr>
          <a:xfrm>
            <a:off x="211850" y="203250"/>
            <a:ext cx="4292400" cy="4737000"/>
          </a:xfrm>
          <a:prstGeom prst="roundRect">
            <a:avLst>
              <a:gd name="adj" fmla="val 3358"/>
            </a:avLst>
          </a:prstGeom>
          <a:noFill/>
          <a:ln>
            <a:noFill/>
          </a:ln>
        </p:spPr>
      </p:sp>
      <p:sp>
        <p:nvSpPr>
          <p:cNvPr id="176" name="Google Shape;176;p17"/>
          <p:cNvSpPr>
            <a:spLocks noGrp="1"/>
          </p:cNvSpPr>
          <p:nvPr>
            <p:ph type="pic" idx="3"/>
          </p:nvPr>
        </p:nvSpPr>
        <p:spPr>
          <a:xfrm>
            <a:off x="4639750" y="203250"/>
            <a:ext cx="4292400" cy="4737000"/>
          </a:xfrm>
          <a:prstGeom prst="roundRect">
            <a:avLst>
              <a:gd name="adj" fmla="val 3358"/>
            </a:avLst>
          </a:prstGeom>
          <a:noFill/>
          <a:ln>
            <a:noFill/>
          </a:ln>
        </p:spPr>
      </p:sp>
      <p:sp>
        <p:nvSpPr>
          <p:cNvPr id="177" name="Google Shape;177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Competition">
  <p:cSld name="CUSTOM_2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>
            <a:spLocks noGrp="1"/>
          </p:cNvSpPr>
          <p:nvPr>
            <p:ph type="pic" idx="2"/>
          </p:nvPr>
        </p:nvSpPr>
        <p:spPr>
          <a:xfrm>
            <a:off x="4014725" y="557375"/>
            <a:ext cx="1374300" cy="1471500"/>
          </a:xfrm>
          <a:prstGeom prst="roundRect">
            <a:avLst>
              <a:gd name="adj" fmla="val 7582"/>
            </a:avLst>
          </a:prstGeom>
          <a:noFill/>
          <a:ln>
            <a:noFill/>
          </a:ln>
        </p:spPr>
      </p:sp>
      <p:sp>
        <p:nvSpPr>
          <p:cNvPr id="180" name="Google Shape;180;p18"/>
          <p:cNvSpPr>
            <a:spLocks noGrp="1"/>
          </p:cNvSpPr>
          <p:nvPr>
            <p:ph type="pic" idx="3"/>
          </p:nvPr>
        </p:nvSpPr>
        <p:spPr>
          <a:xfrm>
            <a:off x="5688575" y="557375"/>
            <a:ext cx="1374300" cy="1471500"/>
          </a:xfrm>
          <a:prstGeom prst="roundRect">
            <a:avLst>
              <a:gd name="adj" fmla="val 7582"/>
            </a:avLst>
          </a:prstGeom>
          <a:noFill/>
          <a:ln>
            <a:noFill/>
          </a:ln>
        </p:spPr>
      </p:sp>
      <p:sp>
        <p:nvSpPr>
          <p:cNvPr id="181" name="Google Shape;181;p18"/>
          <p:cNvSpPr>
            <a:spLocks noGrp="1"/>
          </p:cNvSpPr>
          <p:nvPr>
            <p:ph type="pic" idx="4"/>
          </p:nvPr>
        </p:nvSpPr>
        <p:spPr>
          <a:xfrm>
            <a:off x="7362425" y="557375"/>
            <a:ext cx="1374300" cy="1471500"/>
          </a:xfrm>
          <a:prstGeom prst="roundRect">
            <a:avLst>
              <a:gd name="adj" fmla="val 7582"/>
            </a:avLst>
          </a:prstGeom>
          <a:noFill/>
          <a:ln>
            <a:noFill/>
          </a:ln>
        </p:spPr>
      </p:sp>
      <p:sp>
        <p:nvSpPr>
          <p:cNvPr id="182" name="Google Shape;182;p18"/>
          <p:cNvSpPr>
            <a:spLocks noGrp="1"/>
          </p:cNvSpPr>
          <p:nvPr>
            <p:ph type="pic" idx="5"/>
          </p:nvPr>
        </p:nvSpPr>
        <p:spPr>
          <a:xfrm>
            <a:off x="4014725" y="2644475"/>
            <a:ext cx="1374300" cy="1471500"/>
          </a:xfrm>
          <a:prstGeom prst="roundRect">
            <a:avLst>
              <a:gd name="adj" fmla="val 7582"/>
            </a:avLst>
          </a:prstGeom>
          <a:noFill/>
          <a:ln>
            <a:noFill/>
          </a:ln>
        </p:spPr>
      </p:sp>
      <p:sp>
        <p:nvSpPr>
          <p:cNvPr id="183" name="Google Shape;183;p18"/>
          <p:cNvSpPr>
            <a:spLocks noGrp="1"/>
          </p:cNvSpPr>
          <p:nvPr>
            <p:ph type="pic" idx="6"/>
          </p:nvPr>
        </p:nvSpPr>
        <p:spPr>
          <a:xfrm>
            <a:off x="5688575" y="2644475"/>
            <a:ext cx="1374300" cy="1471500"/>
          </a:xfrm>
          <a:prstGeom prst="roundRect">
            <a:avLst>
              <a:gd name="adj" fmla="val 7582"/>
            </a:avLst>
          </a:prstGeom>
          <a:noFill/>
          <a:ln>
            <a:noFill/>
          </a:ln>
        </p:spPr>
      </p:sp>
      <p:sp>
        <p:nvSpPr>
          <p:cNvPr id="184" name="Google Shape;184;p18"/>
          <p:cNvSpPr>
            <a:spLocks noGrp="1"/>
          </p:cNvSpPr>
          <p:nvPr>
            <p:ph type="pic" idx="7"/>
          </p:nvPr>
        </p:nvSpPr>
        <p:spPr>
          <a:xfrm>
            <a:off x="7362425" y="2644475"/>
            <a:ext cx="1374300" cy="1471500"/>
          </a:xfrm>
          <a:prstGeom prst="roundRect">
            <a:avLst>
              <a:gd name="adj" fmla="val 7582"/>
            </a:avLst>
          </a:prstGeom>
          <a:noFill/>
          <a:ln>
            <a:noFill/>
          </a:ln>
        </p:spPr>
      </p:sp>
      <p:cxnSp>
        <p:nvCxnSpPr>
          <p:cNvPr id="185" name="Google Shape;185;p1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18"/>
          <p:cNvSpPr txBox="1">
            <a:spLocks noGrp="1"/>
          </p:cNvSpPr>
          <p:nvPr>
            <p:ph type="title"/>
          </p:nvPr>
        </p:nvSpPr>
        <p:spPr>
          <a:xfrm>
            <a:off x="452575" y="596800"/>
            <a:ext cx="3262500" cy="13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sz="4800" b="1"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subTitle" idx="1"/>
          </p:nvPr>
        </p:nvSpPr>
        <p:spPr>
          <a:xfrm>
            <a:off x="452575" y="1956400"/>
            <a:ext cx="2616000" cy="6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8"/>
          </p:nvPr>
        </p:nvSpPr>
        <p:spPr>
          <a:xfrm>
            <a:off x="467825" y="2583700"/>
            <a:ext cx="32472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subTitle" idx="9"/>
          </p:nvPr>
        </p:nvSpPr>
        <p:spPr>
          <a:xfrm>
            <a:off x="4014725" y="2028875"/>
            <a:ext cx="1374300" cy="6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subTitle" idx="13"/>
          </p:nvPr>
        </p:nvSpPr>
        <p:spPr>
          <a:xfrm>
            <a:off x="5688575" y="2028875"/>
            <a:ext cx="1374300" cy="6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91" name="Google Shape;191;p18"/>
          <p:cNvSpPr txBox="1">
            <a:spLocks noGrp="1"/>
          </p:cNvSpPr>
          <p:nvPr>
            <p:ph type="subTitle" idx="14"/>
          </p:nvPr>
        </p:nvSpPr>
        <p:spPr>
          <a:xfrm>
            <a:off x="7362425" y="2028875"/>
            <a:ext cx="1374300" cy="6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subTitle" idx="15"/>
          </p:nvPr>
        </p:nvSpPr>
        <p:spPr>
          <a:xfrm>
            <a:off x="4014725" y="4067725"/>
            <a:ext cx="1374300" cy="6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93" name="Google Shape;193;p18"/>
          <p:cNvSpPr txBox="1">
            <a:spLocks noGrp="1"/>
          </p:cNvSpPr>
          <p:nvPr>
            <p:ph type="subTitle" idx="16"/>
          </p:nvPr>
        </p:nvSpPr>
        <p:spPr>
          <a:xfrm>
            <a:off x="5688575" y="4067725"/>
            <a:ext cx="1374300" cy="6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subTitle" idx="17"/>
          </p:nvPr>
        </p:nvSpPr>
        <p:spPr>
          <a:xfrm>
            <a:off x="7362425" y="4067725"/>
            <a:ext cx="1374300" cy="6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18"/>
          <p:cNvSpPr txBox="1">
            <a:spLocks noGrp="1"/>
          </p:cNvSpPr>
          <p:nvPr>
            <p:ph type="sldNum" idx="12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allery">
  <p:cSld name="CUSTOM_1_1">
    <p:bg>
      <p:bgPr>
        <a:solidFill>
          <a:schemeClr val="dk2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>
            <a:spLocks noGrp="1"/>
          </p:cNvSpPr>
          <p:nvPr>
            <p:ph type="pic" idx="2"/>
          </p:nvPr>
        </p:nvSpPr>
        <p:spPr>
          <a:xfrm>
            <a:off x="228625" y="592625"/>
            <a:ext cx="22050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200" name="Google Shape;200;p19"/>
          <p:cNvSpPr>
            <a:spLocks noGrp="1"/>
          </p:cNvSpPr>
          <p:nvPr>
            <p:ph type="pic" idx="3"/>
          </p:nvPr>
        </p:nvSpPr>
        <p:spPr>
          <a:xfrm>
            <a:off x="3931925" y="592625"/>
            <a:ext cx="22050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201" name="Google Shape;201;p19"/>
          <p:cNvSpPr>
            <a:spLocks noGrp="1"/>
          </p:cNvSpPr>
          <p:nvPr>
            <p:ph type="pic" idx="4"/>
          </p:nvPr>
        </p:nvSpPr>
        <p:spPr>
          <a:xfrm>
            <a:off x="7635600" y="592625"/>
            <a:ext cx="11352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202" name="Google Shape;202;p19"/>
          <p:cNvSpPr>
            <a:spLocks noGrp="1"/>
          </p:cNvSpPr>
          <p:nvPr>
            <p:ph type="pic" idx="5"/>
          </p:nvPr>
        </p:nvSpPr>
        <p:spPr>
          <a:xfrm>
            <a:off x="25753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3" name="Google Shape;203;p19"/>
          <p:cNvSpPr>
            <a:spLocks noGrp="1"/>
          </p:cNvSpPr>
          <p:nvPr>
            <p:ph type="pic" idx="6"/>
          </p:nvPr>
        </p:nvSpPr>
        <p:spPr>
          <a:xfrm>
            <a:off x="62788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4" name="Google Shape;204;p19"/>
          <p:cNvSpPr>
            <a:spLocks noGrp="1"/>
          </p:cNvSpPr>
          <p:nvPr>
            <p:ph type="pic" idx="7"/>
          </p:nvPr>
        </p:nvSpPr>
        <p:spPr>
          <a:xfrm>
            <a:off x="2286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5" name="Google Shape;205;p19"/>
          <p:cNvSpPr>
            <a:spLocks noGrp="1"/>
          </p:cNvSpPr>
          <p:nvPr>
            <p:ph type="pic" idx="8"/>
          </p:nvPr>
        </p:nvSpPr>
        <p:spPr>
          <a:xfrm>
            <a:off x="1545425" y="1963950"/>
            <a:ext cx="22050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206" name="Google Shape;206;p19"/>
          <p:cNvSpPr>
            <a:spLocks noGrp="1"/>
          </p:cNvSpPr>
          <p:nvPr>
            <p:ph type="pic" idx="9"/>
          </p:nvPr>
        </p:nvSpPr>
        <p:spPr>
          <a:xfrm>
            <a:off x="3932063" y="1963950"/>
            <a:ext cx="11352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207" name="Google Shape;207;p19"/>
          <p:cNvSpPr>
            <a:spLocks noGrp="1"/>
          </p:cNvSpPr>
          <p:nvPr>
            <p:ph type="pic" idx="13"/>
          </p:nvPr>
        </p:nvSpPr>
        <p:spPr>
          <a:xfrm>
            <a:off x="5248888" y="1963950"/>
            <a:ext cx="22050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208" name="Google Shape;208;p19"/>
          <p:cNvSpPr>
            <a:spLocks noGrp="1"/>
          </p:cNvSpPr>
          <p:nvPr>
            <p:ph type="pic" idx="14"/>
          </p:nvPr>
        </p:nvSpPr>
        <p:spPr>
          <a:xfrm>
            <a:off x="75557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9" name="Google Shape;209;p19"/>
          <p:cNvSpPr>
            <a:spLocks noGrp="1"/>
          </p:cNvSpPr>
          <p:nvPr>
            <p:ph type="pic" idx="15"/>
          </p:nvPr>
        </p:nvSpPr>
        <p:spPr>
          <a:xfrm>
            <a:off x="228625" y="3335275"/>
            <a:ext cx="22050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210" name="Google Shape;210;p19"/>
          <p:cNvSpPr>
            <a:spLocks noGrp="1"/>
          </p:cNvSpPr>
          <p:nvPr>
            <p:ph type="pic" idx="16"/>
          </p:nvPr>
        </p:nvSpPr>
        <p:spPr>
          <a:xfrm>
            <a:off x="3931925" y="3335275"/>
            <a:ext cx="22050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211" name="Google Shape;211;p19"/>
          <p:cNvSpPr>
            <a:spLocks noGrp="1"/>
          </p:cNvSpPr>
          <p:nvPr>
            <p:ph type="pic" idx="17"/>
          </p:nvPr>
        </p:nvSpPr>
        <p:spPr>
          <a:xfrm>
            <a:off x="7635600" y="3335275"/>
            <a:ext cx="1135200" cy="1215600"/>
          </a:xfrm>
          <a:prstGeom prst="roundRect">
            <a:avLst>
              <a:gd name="adj" fmla="val 3655"/>
            </a:avLst>
          </a:prstGeom>
          <a:noFill/>
          <a:ln>
            <a:noFill/>
          </a:ln>
        </p:spPr>
      </p:sp>
      <p:sp>
        <p:nvSpPr>
          <p:cNvPr id="212" name="Google Shape;212;p19"/>
          <p:cNvSpPr>
            <a:spLocks noGrp="1"/>
          </p:cNvSpPr>
          <p:nvPr>
            <p:ph type="pic" idx="18"/>
          </p:nvPr>
        </p:nvSpPr>
        <p:spPr>
          <a:xfrm>
            <a:off x="25753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3" name="Google Shape;213;p19"/>
          <p:cNvSpPr>
            <a:spLocks noGrp="1"/>
          </p:cNvSpPr>
          <p:nvPr>
            <p:ph type="pic" idx="19"/>
          </p:nvPr>
        </p:nvSpPr>
        <p:spPr>
          <a:xfrm>
            <a:off x="62788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4" name="Google Shape;214;p19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215" name="Google Shape;215;p1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6" name="Google Shape;216;p19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5" name="Google Shape;22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29" name="Google Shape;22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33" name="Google Shape;233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34" name="Google Shape;2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0" name="Google Shape;240;p2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44" name="Google Shape;24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_1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9" name="Google Shape;249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50" name="Google Shape;25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253" name="Google Shape;25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6" name="Google Shape;256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57" name="Google Shape;25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1">
  <p:cSld name="BLANK_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64" name="Google Shape;264;p3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65" name="Google Shape;265;p3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66" name="Google Shape;266;p3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67" name="Google Shape;267;p3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68" name="Google Shape;268;p3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72" name="Google Shape;272;p3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2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3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77" name="Google Shape;277;p3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79" name="Google Shape;279;p3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0" name="Google Shape;280;p3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3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4" name="Google Shape;284;p3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5" name="Google Shape;285;p34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6" name="Google Shape;286;p3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87" name="Google Shape;287;p34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8" name="Google Shape;288;p34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3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3" name="Google Shape;293;p3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4" name="Google Shape;294;p3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5" name="Google Shape;295;p3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6" name="Google Shape;296;p3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97" name="Google Shape;297;p3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0" name="Google Shape;300;p3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" name="Google Shape;304;p3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07" name="Google Shape;307;p3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10" name="Google Shape;31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3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3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16" name="Google Shape;316;p3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8" name="Google Shape;318;p3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19" name="Google Shape;319;p3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3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21" name="Google Shape;321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3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3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4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4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4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4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4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08925" y="278025"/>
            <a:ext cx="4448400" cy="29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 b="1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613175" y="278025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transition spd="med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mailto:kamogelotele@gmail.com" TargetMode="External"/><Relationship Id="rId3" Type="http://schemas.openxmlformats.org/officeDocument/2006/relationships/hyperlink" Target="mailto:allamsridhar2001@gmail.com" TargetMode="External"/><Relationship Id="rId7" Type="http://schemas.openxmlformats.org/officeDocument/2006/relationships/hyperlink" Target="mailto:tarwatkark63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6" Type="http://schemas.openxmlformats.org/officeDocument/2006/relationships/hyperlink" Target="mailto:rajyavardhanchauhan01@gmail.com" TargetMode="External"/><Relationship Id="rId5" Type="http://schemas.openxmlformats.org/officeDocument/2006/relationships/hyperlink" Target="mailto:johnsyllah2003@gmail.com" TargetMode="External"/><Relationship Id="rId4" Type="http://schemas.openxmlformats.org/officeDocument/2006/relationships/hyperlink" Target="mailto:abdullahimranarshad@gmail.com" TargetMode="External"/><Relationship Id="rId9" Type="http://schemas.openxmlformats.org/officeDocument/2006/relationships/hyperlink" Target="mailto:ravitejabhukya35@gmail.co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>
            <a:spLocks noGrp="1"/>
          </p:cNvSpPr>
          <p:nvPr>
            <p:ph type="title"/>
          </p:nvPr>
        </p:nvSpPr>
        <p:spPr>
          <a:xfrm>
            <a:off x="420875" y="1705496"/>
            <a:ext cx="4324800" cy="17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Prompt Engineering</a:t>
            </a:r>
            <a:endParaRPr sz="5500"/>
          </a:p>
        </p:txBody>
      </p:sp>
      <p:sp>
        <p:nvSpPr>
          <p:cNvPr id="346" name="Google Shape;346;p41"/>
          <p:cNvSpPr txBox="1">
            <a:spLocks noGrp="1"/>
          </p:cNvSpPr>
          <p:nvPr>
            <p:ph type="title" idx="2"/>
          </p:nvPr>
        </p:nvSpPr>
        <p:spPr>
          <a:xfrm>
            <a:off x="420875" y="3318663"/>
            <a:ext cx="4036500" cy="5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1811 RIT PE Team 3A</a:t>
            </a:r>
            <a:endParaRPr/>
          </a:p>
        </p:txBody>
      </p:sp>
      <p:pic>
        <p:nvPicPr>
          <p:cNvPr id="347" name="Google Shape;34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3740" y="0"/>
            <a:ext cx="373026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/>
              <a:t>Team</a:t>
            </a:r>
            <a:endParaRPr sz="4000" b="0"/>
          </a:p>
        </p:txBody>
      </p:sp>
      <p:graphicFrame>
        <p:nvGraphicFramePr>
          <p:cNvPr id="354" name="Google Shape;354;p42"/>
          <p:cNvGraphicFramePr/>
          <p:nvPr>
            <p:extLst>
              <p:ext uri="{D42A27DB-BD31-4B8C-83A1-F6EECF244321}">
                <p14:modId xmlns:p14="http://schemas.microsoft.com/office/powerpoint/2010/main" val="654716462"/>
              </p:ext>
            </p:extLst>
          </p:nvPr>
        </p:nvGraphicFramePr>
        <p:xfrm>
          <a:off x="396400" y="1356175"/>
          <a:ext cx="8194850" cy="3482000"/>
        </p:xfrm>
        <a:graphic>
          <a:graphicData uri="http://schemas.openxmlformats.org/drawingml/2006/table">
            <a:tbl>
              <a:tblPr>
                <a:noFill/>
                <a:tableStyleId>{7DC94165-5C5E-4B74-BAD7-36569CF90316}</a:tableStyleId>
              </a:tblPr>
              <a:tblGrid>
                <a:gridCol w="313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25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Member’s Name</a:t>
                      </a:r>
                      <a:endParaRPr sz="20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Member’s Email ID</a:t>
                      </a:r>
                      <a:endParaRPr sz="20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25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Allam Sridhar </a:t>
                      </a:r>
                      <a:endParaRPr sz="200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uFill>
                            <a:noFill/>
                          </a:uFill>
                          <a:latin typeface="Inter"/>
                          <a:ea typeface="Inter"/>
                          <a:cs typeface="Inter"/>
                          <a:sym typeface="Inter"/>
                          <a:hlinkClick r:id="rId3"/>
                        </a:rPr>
                        <a:t>allamsridhar2001@gmail.com</a:t>
                      </a:r>
                      <a:endParaRPr lang="en-IN" sz="200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25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Abdullah Imran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uFill>
                            <a:noFill/>
                          </a:uFill>
                          <a:latin typeface="Inter"/>
                          <a:ea typeface="Inter"/>
                          <a:cs typeface="Inter"/>
                          <a:sym typeface="Inter"/>
                          <a:hlinkClick r:id="rId4"/>
                        </a:rPr>
                        <a:t>abdullahimranarshad@gmail.com</a:t>
                      </a:r>
                      <a:r>
                        <a:rPr lang="en" sz="2000" dirty="0">
                          <a:uFill>
                            <a:noFill/>
                          </a:u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200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25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Inter"/>
                          <a:ea typeface="Inter"/>
                          <a:cs typeface="Inter"/>
                          <a:sym typeface="Inter"/>
                        </a:rPr>
                        <a:t>John Syllah</a:t>
                      </a:r>
                      <a:endParaRPr sz="2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uFill>
                            <a:noFill/>
                          </a:uFill>
                          <a:latin typeface="Inter"/>
                          <a:ea typeface="Inter"/>
                          <a:cs typeface="Inter"/>
                          <a:sym typeface="Inter"/>
                          <a:hlinkClick r:id="rId5"/>
                        </a:rPr>
                        <a:t>johnsyllah2003@gmail.com</a:t>
                      </a:r>
                      <a:endParaRPr sz="2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25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Inter"/>
                          <a:ea typeface="Inter"/>
                          <a:cs typeface="Inter"/>
                          <a:sym typeface="Inter"/>
                        </a:rPr>
                        <a:t>Rajyavardhan Chauhan</a:t>
                      </a:r>
                      <a:endParaRPr sz="2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uFill>
                            <a:noFill/>
                          </a:uFill>
                          <a:latin typeface="Inter"/>
                          <a:ea typeface="Inter"/>
                          <a:cs typeface="Inter"/>
                          <a:sym typeface="Inter"/>
                          <a:hlinkClick r:id="rId6"/>
                        </a:rPr>
                        <a:t>rajyavardhanchauhan01@gmail.com</a:t>
                      </a:r>
                      <a:endParaRPr sz="2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25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Inter"/>
                          <a:ea typeface="Inter"/>
                          <a:cs typeface="Inter"/>
                          <a:sym typeface="Inter"/>
                        </a:rPr>
                        <a:t>Kuntal Tarwatkar</a:t>
                      </a:r>
                      <a:endParaRPr sz="2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uFill>
                            <a:noFill/>
                          </a:uFill>
                          <a:latin typeface="Inter"/>
                          <a:ea typeface="Inter"/>
                          <a:cs typeface="Inter"/>
                          <a:sym typeface="Inter"/>
                          <a:hlinkClick r:id="rId7"/>
                        </a:rPr>
                        <a:t>tarwatkark63@gmail.com</a:t>
                      </a:r>
                      <a:endParaRPr sz="2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25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Kamogelo Tele </a:t>
                      </a:r>
                      <a:endParaRPr sz="200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uFill>
                            <a:noFill/>
                          </a:uFill>
                          <a:latin typeface="Inter"/>
                          <a:ea typeface="Inter"/>
                          <a:cs typeface="Inter"/>
                          <a:sym typeface="Inter"/>
                          <a:hlinkClick r:id="rId8"/>
                        </a:rPr>
                        <a:t>kamogelotele@gmail.</a:t>
                      </a:r>
                      <a:r>
                        <a:rPr lang="en-IN" sz="2000">
                          <a:uFill>
                            <a:noFill/>
                          </a:uFill>
                          <a:latin typeface="Inter"/>
                          <a:ea typeface="Inter"/>
                          <a:cs typeface="Inter"/>
                          <a:sym typeface="Inter"/>
                          <a:hlinkClick r:id="rId8"/>
                        </a:rPr>
                        <a:t>com</a:t>
                      </a:r>
                      <a:r>
                        <a:rPr lang="en-IN" sz="2000"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lang="en-IN" sz="200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25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Inter"/>
                          <a:ea typeface="Inter"/>
                          <a:cs typeface="Inter"/>
                          <a:sym typeface="Inter"/>
                        </a:rPr>
                        <a:t>Ravi Teja Bhukya</a:t>
                      </a:r>
                      <a:endParaRPr sz="2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uFill>
                            <a:noFill/>
                          </a:uFill>
                          <a:latin typeface="Inter"/>
                          <a:ea typeface="Inter"/>
                          <a:cs typeface="Inter"/>
                          <a:sym typeface="Inter"/>
                          <a:hlinkClick r:id="rId9"/>
                        </a:rPr>
                        <a:t>ravitejabhukya35@gmail.com</a:t>
                      </a:r>
                      <a:endParaRPr sz="200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5" name="Google Shape;355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/>
              <a:t>Overview</a:t>
            </a:r>
            <a:endParaRPr sz="4000" b="0"/>
          </a:p>
        </p:txBody>
      </p:sp>
      <p:sp>
        <p:nvSpPr>
          <p:cNvPr id="361" name="Google Shape;361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en" sz="1800"/>
              <a:t>Introduction</a:t>
            </a:r>
            <a:endParaRPr sz="18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en" sz="1800"/>
              <a:t>Research Methodology</a:t>
            </a:r>
            <a:endParaRPr sz="18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en" sz="1800"/>
              <a:t>Key Findings</a:t>
            </a:r>
            <a:endParaRPr sz="18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en" sz="1800"/>
              <a:t>Comparative Analysis</a:t>
            </a:r>
            <a:endParaRPr sz="18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en" sz="1800"/>
              <a:t>Recommendations</a:t>
            </a:r>
            <a:endParaRPr sz="18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en" sz="1800"/>
              <a:t>Conclusion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62" name="Google Shape;362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4"/>
          <p:cNvSpPr txBox="1">
            <a:spLocks noGrp="1"/>
          </p:cNvSpPr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533400" algn="l" rtl="0">
              <a:spcBef>
                <a:spcPts val="0"/>
              </a:spcBef>
              <a:spcAft>
                <a:spcPts val="0"/>
              </a:spcAft>
              <a:buSzPts val="4800"/>
              <a:buAutoNum type="arabicPeriod"/>
            </a:pPr>
            <a:r>
              <a:rPr lang="en" sz="4800"/>
              <a:t>Introduction</a:t>
            </a:r>
            <a:endParaRPr sz="4800"/>
          </a:p>
        </p:txBody>
      </p:sp>
      <p:pic>
        <p:nvPicPr>
          <p:cNvPr id="368" name="Google Shape;36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9775" y="196800"/>
            <a:ext cx="3905400" cy="474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AutoNum type="arabicPeriod"/>
            </a:pPr>
            <a:r>
              <a:rPr lang="en" sz="4000" b="0"/>
              <a:t>Introduction (1/2)</a:t>
            </a:r>
            <a:endParaRPr sz="4000" b="0"/>
          </a:p>
        </p:txBody>
      </p:sp>
      <p:sp>
        <p:nvSpPr>
          <p:cNvPr id="374" name="Google Shape;374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Large Language Models (LLMs):</a:t>
            </a:r>
            <a:endParaRPr sz="1800" b="1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000000"/>
                </a:solidFill>
              </a:rPr>
              <a:t>Process and generate text.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000000"/>
                </a:solidFill>
              </a:rPr>
              <a:t>Excel at tasks like translation, summarization, and creative writing.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Multimodal Models:</a:t>
            </a:r>
            <a:endParaRPr sz="1800" b="1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000000"/>
                </a:solidFill>
              </a:rPr>
              <a:t>Process and generate multiple data types (text, images, audio, video).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000000"/>
                </a:solidFill>
              </a:rPr>
              <a:t>Enable more complex tasks like image captioning, video analysis, and virtual assistants.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75" name="Google Shape;375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AutoNum type="arabicPeriod"/>
            </a:pPr>
            <a:r>
              <a:rPr lang="en" sz="4000" b="0"/>
              <a:t>Introduction (2/2)</a:t>
            </a:r>
            <a:endParaRPr sz="4000" b="0"/>
          </a:p>
        </p:txBody>
      </p:sp>
      <p:sp>
        <p:nvSpPr>
          <p:cNvPr id="381" name="Google Shape;381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0000"/>
                </a:solidFill>
              </a:rPr>
              <a:t>ChatGPT:</a:t>
            </a:r>
            <a:endParaRPr sz="2000" b="1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000000"/>
                </a:solidFill>
              </a:rPr>
              <a:t>Powerful LLM for text-based tasks.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000000"/>
                </a:solidFill>
              </a:rPr>
              <a:t>Well-established and reliable platform.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000000"/>
                </a:solidFill>
              </a:rPr>
              <a:t>Enables deep exploration of prompt engineering techniques.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0000"/>
                </a:solidFill>
              </a:rPr>
              <a:t>Gemini:</a:t>
            </a:r>
            <a:endParaRPr sz="2000" b="1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000000"/>
                </a:solidFill>
              </a:rPr>
              <a:t>Cutting-edge multimodal model.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000000"/>
                </a:solidFill>
              </a:rPr>
              <a:t>Capable of understanding and generating text and images.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000000"/>
                </a:solidFill>
              </a:rPr>
              <a:t>Ideal for innovative prompt engineering research, especially in multimodal scenarios.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7"/>
          <p:cNvSpPr txBox="1">
            <a:spLocks noGrp="1"/>
          </p:cNvSpPr>
          <p:nvPr>
            <p:ph type="title"/>
          </p:nvPr>
        </p:nvSpPr>
        <p:spPr>
          <a:xfrm>
            <a:off x="420875" y="1402000"/>
            <a:ext cx="4324800" cy="31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2. Research Methodology</a:t>
            </a:r>
            <a:endParaRPr sz="4800"/>
          </a:p>
        </p:txBody>
      </p:sp>
      <p:pic>
        <p:nvPicPr>
          <p:cNvPr id="388" name="Google Shape;38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1611" y="171951"/>
            <a:ext cx="3905400" cy="474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/>
              <a:t>2. Research Methodology</a:t>
            </a:r>
            <a:endParaRPr sz="4000" b="0"/>
          </a:p>
        </p:txBody>
      </p:sp>
      <p:sp>
        <p:nvSpPr>
          <p:cNvPr id="394" name="Google Shape;394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/>
              <a:t>Tool Selection: Analyzed usability, scalability, and features.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/>
              <a:t>Prompt Testing: Conducted through tests on coding, creative writing, and multimodal prompts.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/>
              <a:t>Evaluation Metrics: Accuracy, efficiency, and user experience.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/>
              <a:t>By refining prompts, we compared their performance against less refined versions.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/>
              <a:t>Assessed the models' strengths and limitations, identifying areas for future improvement.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5" name="Google Shape;395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9"/>
          <p:cNvSpPr txBox="1">
            <a:spLocks noGrp="1"/>
          </p:cNvSpPr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3. Key Findings</a:t>
            </a:r>
            <a:endParaRPr sz="4800"/>
          </a:p>
        </p:txBody>
      </p:sp>
      <p:pic>
        <p:nvPicPr>
          <p:cNvPr id="401" name="Google Shape;40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4125" y="196800"/>
            <a:ext cx="3905400" cy="474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/>
              <a:t>3.1: Prompt Tests Results</a:t>
            </a:r>
            <a:endParaRPr sz="4000" b="0"/>
          </a:p>
        </p:txBody>
      </p:sp>
      <p:graphicFrame>
        <p:nvGraphicFramePr>
          <p:cNvPr id="407" name="Google Shape;407;p50"/>
          <p:cNvGraphicFramePr/>
          <p:nvPr/>
        </p:nvGraphicFramePr>
        <p:xfrm>
          <a:off x="733631" y="142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{87108994-FB14-4D34-BB94-6023D4598E47}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Category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ChatGPT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Gemini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Coding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4.69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4.66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Poems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4.86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4.11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Images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4.14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4.192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Analytical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4.62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4.64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Conversation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4.684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4.268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Summary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4.475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Sentiment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4.675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4.85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Ethics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4.92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4.92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Total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37.064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35.64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08" name="Google Shape;408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0"/>
            <a:ext cx="5943600" cy="26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415" name="Google Shape;415;p51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636900"/>
            <a:ext cx="59436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-75575"/>
            <a:ext cx="5943600" cy="264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2"/>
          <p:cNvPicPr preferRelativeResize="0"/>
          <p:nvPr/>
        </p:nvPicPr>
        <p:blipFill rotWithShape="1">
          <a:blip r:embed="rId4">
            <a:alphaModFix/>
          </a:blip>
          <a:srcRect l="-53660" t="-103970" r="53660" b="103970"/>
          <a:stretch/>
        </p:blipFill>
        <p:spPr>
          <a:xfrm>
            <a:off x="0" y="75575"/>
            <a:ext cx="5943600" cy="249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571750"/>
            <a:ext cx="59436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3"/>
          <p:cNvSpPr txBox="1">
            <a:spLocks noGrp="1"/>
          </p:cNvSpPr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4. Comparative Analysis</a:t>
            </a:r>
            <a:endParaRPr sz="4800"/>
          </a:p>
        </p:txBody>
      </p:sp>
      <p:pic>
        <p:nvPicPr>
          <p:cNvPr id="429" name="Google Shape;429;p53"/>
          <p:cNvPicPr preferRelativeResize="0"/>
          <p:nvPr/>
        </p:nvPicPr>
        <p:blipFill rotWithShape="1">
          <a:blip r:embed="rId3">
            <a:alphaModFix/>
          </a:blip>
          <a:srcRect b="9090"/>
          <a:stretch/>
        </p:blipFill>
        <p:spPr>
          <a:xfrm>
            <a:off x="5008500" y="233875"/>
            <a:ext cx="3905400" cy="467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/>
              <a:t>4. Comparative Analysis (1/2)</a:t>
            </a:r>
            <a:endParaRPr sz="4000" b="0"/>
          </a:p>
        </p:txBody>
      </p:sp>
      <p:graphicFrame>
        <p:nvGraphicFramePr>
          <p:cNvPr id="435" name="Google Shape;435;p54"/>
          <p:cNvGraphicFramePr/>
          <p:nvPr/>
        </p:nvGraphicFramePr>
        <p:xfrm>
          <a:off x="311700" y="136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{87108994-FB14-4D34-BB94-6023D4598E47}</a:tableStyleId>
              </a:tblPr>
              <a:tblGrid>
                <a:gridCol w="278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Aspect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ChatGPT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Gemini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Developer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OpenAI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Google DeepMind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Multimodal Capability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Limited (text-focused; GPT-4 Vision adds images)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Fully multimodal (text, images, real-time data)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Customization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Extensive fine-tuning supported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Limited customization; pre-trained capabilities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Languages Supported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20+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40+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Cost Efficiency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Moderate; resource-intensive for multimodal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Use Cases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Creative writing, customer support, education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Enterprise analytics, multimedia document processing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Challenges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Prone to hallucinations and biases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Higher computational demand; experimental features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36" name="Google Shape;43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/>
              <a:t>4. Comparative Analysis (2/2)</a:t>
            </a:r>
            <a:endParaRPr sz="40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0"/>
          </a:p>
        </p:txBody>
      </p:sp>
      <p:sp>
        <p:nvSpPr>
          <p:cNvPr id="442" name="Google Shape;442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graphicFrame>
        <p:nvGraphicFramePr>
          <p:cNvPr id="443" name="Google Shape;443;p55"/>
          <p:cNvGraphicFramePr/>
          <p:nvPr/>
        </p:nvGraphicFramePr>
        <p:xfrm>
          <a:off x="389723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{87108994-FB14-4D34-BB94-6023D4598E47}</a:tableStyleId>
              </a:tblPr>
              <a:tblGrid>
                <a:gridCol w="278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Industry</a:t>
                      </a:r>
                      <a:endParaRPr sz="15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ctr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ChatGPT</a:t>
                      </a:r>
                      <a:endParaRPr sz="15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ctr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Gemini</a:t>
                      </a:r>
                      <a:endParaRPr sz="15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ctr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Education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ctr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Personalized quizzes, summaries, explanations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Annotated diagrams, video explanations, interactive exercises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Healthcare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ctr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Patient triage, medical report summaries, health chatbots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Medical image interpretation, text-based diagnostics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Marketing &amp; Advertising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ctr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Ad copy, SEO content, social media posts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Multimodal campaigns (text, images, videos)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Customer Support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ctr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Automated FAQ responses, troubleshooting guides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Visual support (screenshots, diagrams)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Creative Content Generation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ctr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Poetry, stories, screenplays, idea generation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Illustrated stories, multimedia content, conceptual designs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>
            <a:spLocks noGrp="1"/>
          </p:cNvSpPr>
          <p:nvPr>
            <p:ph type="title"/>
          </p:nvPr>
        </p:nvSpPr>
        <p:spPr>
          <a:xfrm>
            <a:off x="155100" y="901550"/>
            <a:ext cx="4884600" cy="31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5. Recommendations</a:t>
            </a:r>
            <a:endParaRPr sz="4800"/>
          </a:p>
        </p:txBody>
      </p:sp>
      <p:pic>
        <p:nvPicPr>
          <p:cNvPr id="449" name="Google Shape;44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064" y="207252"/>
            <a:ext cx="3905400" cy="474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/>
              <a:t>5. Recommendations (1/4)</a:t>
            </a:r>
            <a:endParaRPr sz="4000" b="0"/>
          </a:p>
        </p:txBody>
      </p:sp>
      <p:sp>
        <p:nvSpPr>
          <p:cNvPr id="455" name="Google Shape;455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Content Creation:</a:t>
            </a:r>
            <a:endParaRPr sz="1800" b="1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Leverage Chat GPT:</a:t>
            </a:r>
            <a:r>
              <a:rPr lang="en" sz="1800">
                <a:solidFill>
                  <a:srgbClr val="000000"/>
                </a:solidFill>
              </a:rPr>
              <a:t> Automate scriptwriting, text creation, and module structuring.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Utilize Gemini:</a:t>
            </a:r>
            <a:r>
              <a:rPr lang="en" sz="1800">
                <a:solidFill>
                  <a:srgbClr val="000000"/>
                </a:solidFill>
              </a:rPr>
              <a:t> Develop multimedia-rich content (infographics, animations, videos).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Optimize Content:</a:t>
            </a:r>
            <a:r>
              <a:rPr lang="en" sz="1800">
                <a:solidFill>
                  <a:srgbClr val="000000"/>
                </a:solidFill>
              </a:rPr>
              <a:t> Refine content for clarity, engagement, and user retention.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Collaborative AI:</a:t>
            </a:r>
            <a:r>
              <a:rPr lang="en" sz="1800">
                <a:solidFill>
                  <a:srgbClr val="000000"/>
                </a:solidFill>
              </a:rPr>
              <a:t> Combine ChatGPT and Gemini for efficient content production.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456" name="Google Shape;456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/>
              <a:t>5. Recommendations (2/4)</a:t>
            </a:r>
            <a:endParaRPr sz="40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Engagement Strategies:</a:t>
            </a:r>
            <a:endParaRPr sz="1800" b="1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Gamification:</a:t>
            </a:r>
            <a:r>
              <a:rPr lang="en" sz="1800">
                <a:solidFill>
                  <a:srgbClr val="000000"/>
                </a:solidFill>
              </a:rPr>
              <a:t> Implement challenges, badges, and leaderboards.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Real-Time Engagement:</a:t>
            </a:r>
            <a:r>
              <a:rPr lang="en" sz="1800">
                <a:solidFill>
                  <a:srgbClr val="000000"/>
                </a:solidFill>
              </a:rPr>
              <a:t> Use live polls, Q&amp;A, and chat features.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Holistic Approach:</a:t>
            </a:r>
            <a:r>
              <a:rPr lang="en" sz="1800">
                <a:solidFill>
                  <a:srgbClr val="000000"/>
                </a:solidFill>
              </a:rPr>
              <a:t> Combine gamification and real-time engagement.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Monitor Engagement:</a:t>
            </a:r>
            <a:r>
              <a:rPr lang="en" sz="1800">
                <a:solidFill>
                  <a:srgbClr val="000000"/>
                </a:solidFill>
              </a:rPr>
              <a:t> Analyze user behavior and adjust strategies.</a:t>
            </a:r>
            <a:endParaRPr sz="18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/>
              <a:t>5. Recommendations (3/4)</a:t>
            </a:r>
            <a:endParaRPr sz="40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Personalization: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 User Behavior: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Monitor engagement, activity patterns, and learning progress.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 Learning: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Adapt learning paths, feedback, and content.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Retention: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Predict disengagement and take proactive measures.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 Long-Term Progress: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Track key metrics and make data-driven decisions.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70" name="Google Shape;470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/>
              <a:t>5. Recommendations (4/4)</a:t>
            </a:r>
            <a:endParaRPr sz="40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Workflow Optimization: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 Tasks: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Schedule sessions, send reminders, and generate reports.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Administrative Overhead: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Free up staff for strategic tasks.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 Accuracy: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Minimize human error in scheduling and communication.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 Response Time: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 timely communication with users.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77" name="Google Shape;477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1"/>
          <p:cNvSpPr txBox="1">
            <a:spLocks noGrp="1"/>
          </p:cNvSpPr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6. Conclusion</a:t>
            </a:r>
            <a:endParaRPr sz="4800"/>
          </a:p>
        </p:txBody>
      </p:sp>
      <p:pic>
        <p:nvPicPr>
          <p:cNvPr id="483" name="Google Shape;48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4145" y="229300"/>
            <a:ext cx="3845600" cy="47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/>
              <a:t>6. Conclusion</a:t>
            </a:r>
            <a:endParaRPr sz="4000" b="0"/>
          </a:p>
        </p:txBody>
      </p:sp>
      <p:sp>
        <p:nvSpPr>
          <p:cNvPr id="489" name="Google Shape;489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Engineering is Critical: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Effective prompt design is essential for optimal AI performance.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AI, a Powerful Tool: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While AI has advanced significantly, it's important to use it judiciously and be aware of its limitations.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Enhancing Learning with AI: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Excelerate can leverage ChatGPT and Gemini to streamline tasks, spark creativity, and elevate user experiences through gamification.</a:t>
            </a:r>
            <a:endParaRPr sz="1800"/>
          </a:p>
        </p:txBody>
      </p:sp>
      <p:sp>
        <p:nvSpPr>
          <p:cNvPr id="490" name="Google Shape;490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35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Thank You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96" name="Google Shape;496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vestor Pitch">
  <a:themeElements>
    <a:clrScheme name="Simple Light">
      <a:dk1>
        <a:srgbClr val="1A36B4"/>
      </a:dk1>
      <a:lt1>
        <a:srgbClr val="F6F5EC"/>
      </a:lt1>
      <a:dk2>
        <a:srgbClr val="1D1D1D"/>
      </a:dk2>
      <a:lt2>
        <a:srgbClr val="A4C2F4"/>
      </a:lt2>
      <a:accent1>
        <a:srgbClr val="FFFFFF"/>
      </a:accent1>
      <a:accent2>
        <a:srgbClr val="1A36B4"/>
      </a:accent2>
      <a:accent3>
        <a:srgbClr val="1D1D1D"/>
      </a:accent3>
      <a:accent4>
        <a:srgbClr val="F6F5EC"/>
      </a:accent4>
      <a:accent5>
        <a:srgbClr val="1A36B4"/>
      </a:accent5>
      <a:accent6>
        <a:srgbClr val="595959"/>
      </a:accent6>
      <a:hlink>
        <a:srgbClr val="A4C2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Microsoft Office PowerPoint</Application>
  <PresentationFormat>On-screen Show (16:9)</PresentationFormat>
  <Paragraphs>175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Inter Light</vt:lpstr>
      <vt:lpstr>Inter SemiBold</vt:lpstr>
      <vt:lpstr>Inter</vt:lpstr>
      <vt:lpstr>Arial</vt:lpstr>
      <vt:lpstr>Investor Pitch</vt:lpstr>
      <vt:lpstr>Prompt Engineering</vt:lpstr>
      <vt:lpstr>Team</vt:lpstr>
      <vt:lpstr>Overview</vt:lpstr>
      <vt:lpstr>Introduction</vt:lpstr>
      <vt:lpstr>Introduction (1/2)</vt:lpstr>
      <vt:lpstr>Introduction (2/2)</vt:lpstr>
      <vt:lpstr>2. Research Methodology</vt:lpstr>
      <vt:lpstr>2. Research Methodology</vt:lpstr>
      <vt:lpstr>3. Key Findings</vt:lpstr>
      <vt:lpstr>3.1: Prompt Tests Results</vt:lpstr>
      <vt:lpstr>PowerPoint Presentation</vt:lpstr>
      <vt:lpstr>PowerPoint Presentation</vt:lpstr>
      <vt:lpstr>4. Comparative Analysis</vt:lpstr>
      <vt:lpstr>4. Comparative Analysis (1/2)</vt:lpstr>
      <vt:lpstr>4. Comparative Analysis (2/2) </vt:lpstr>
      <vt:lpstr>5. Recommendations</vt:lpstr>
      <vt:lpstr>5. Recommendations (1/4)</vt:lpstr>
      <vt:lpstr>5. Recommendations (2/4) </vt:lpstr>
      <vt:lpstr>5. Recommendations (3/4) </vt:lpstr>
      <vt:lpstr>5. Recommendations (4/4) </vt:lpstr>
      <vt:lpstr>6. Conclusion</vt:lpstr>
      <vt:lpstr>6.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Vamshi Allam</dc:creator>
  <cp:lastModifiedBy>SRIDHAR ALLAM</cp:lastModifiedBy>
  <cp:revision>1</cp:revision>
  <dcterms:modified xsi:type="dcterms:W3CDTF">2025-01-13T12:52:18Z</dcterms:modified>
</cp:coreProperties>
</file>